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52"/>
    <p:restoredTop sz="94659"/>
  </p:normalViewPr>
  <p:slideViewPr>
    <p:cSldViewPr snapToGrid="0" snapToObjects="1">
      <p:cViewPr varScale="1">
        <p:scale>
          <a:sx n="53" d="100"/>
          <a:sy n="53" d="100"/>
        </p:scale>
        <p:origin x="208" y="13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39153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Introduce yourself and state the project title. Emphasise that the project combines timeline-based planning with SMT solving to create a prototype planner for continuous-time scheduling.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the real-world motivation. Do not spend too long on the literature. Make clear that Mars rover scheduling is used because it naturally has temporal, environmental and resource constraints.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Present the objectives as a clear checklist. The main point is that this was a working prototype, not only a theoretical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that timeline-based planning is the main planning representation. Activities are tokens with start and end times, rather than instant actions.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Define SMT in simple terms. Say that the planner does not search manually; it encodes requirements and asks Z3 whether a satisfying assignment exists.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Use this slide to show technical understanding. Explain the tuple and one concrete constraint. Avoid overcomplicating the mathematics.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one of the most important slides. Clearly explain the pipeline. Emphasise that the architecture connects a readable input format to formal SMT solving and visual output.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Show that you wrote software. Explain the code briefly: movement before imaging, imaging before analysis, daylight constraints, then solver 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the scenario. The important part is not Mars science detail but showing that the model combines multiple types of constraints.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Use this slide to show evidence of evaluation. Make clear that 2.80 seconds is the measured runtime for that run, not a fixed timeout threshold.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End confidently. Summarise what you built, what the results show, and the most important future work. Then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6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Triangle 1"/>
          <p:cNvSpPr/>
          <p:nvPr/>
        </p:nvSpPr>
        <p:spPr>
          <a:xfrm>
            <a:off x="8778240" y="0"/>
            <a:ext cx="3429000" cy="6858000"/>
          </a:xfrm>
          <a:prstGeom prst="rtTriangle">
            <a:avLst/>
          </a:prstGeom>
          <a:solidFill>
            <a:srgbClr val="2A6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8046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600" b="1">
                <a:solidFill>
                  <a:srgbClr val="FFFFFF"/>
                </a:solidFill>
                <a:latin typeface="Aptos Display"/>
              </a:defRPr>
            </a:pPr>
            <a:r>
              <a:t>Timeline-Based Planning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402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D7E1F0"/>
                </a:solidFill>
              </a:defRPr>
            </a:pPr>
            <a:r>
              <a:rPr dirty="0"/>
              <a:t>SMT-based continuous-time scheduling for a Mars rover scenario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160520"/>
            <a:ext cx="6400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E6EBF5"/>
                </a:solidFill>
              </a:defRPr>
            </a:pPr>
            <a:r>
              <a:t>Ho Chit Joure | Candidate Number: 282953</a:t>
            </a:r>
          </a:p>
          <a:p>
            <a:pPr>
              <a:defRPr sz="1500">
                <a:solidFill>
                  <a:srgbClr val="E6EBF5"/>
                </a:solidFill>
              </a:defRPr>
            </a:pPr>
            <a:r>
              <a:t>BSc Computer Science and Artificial Intelligence</a:t>
            </a:r>
          </a:p>
          <a:p>
            <a:pPr>
              <a:defRPr sz="1500">
                <a:solidFill>
                  <a:srgbClr val="E6EBF5"/>
                </a:solidFill>
              </a:defRPr>
            </a:pPr>
            <a:r>
              <a:t>Supervisor: Dr Hsi-Ming Ho | University of Sussex |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A6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32642"/>
                </a:solidFill>
                <a:latin typeface="Aptos Display"/>
              </a:defRPr>
            </a:pPr>
            <a:r>
              <a:t>Project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59536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C6370"/>
                </a:solidFill>
              </a:defRPr>
            </a:pPr>
            <a:r>
              <a:t>Why this problem matters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34747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82296" cy="1234440"/>
          </a:xfrm>
          <a:prstGeom prst="rect">
            <a:avLst/>
          </a:prstGeom>
          <a:solidFill>
            <a:srgbClr val="E69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1554480"/>
            <a:ext cx="315467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32642"/>
                </a:solidFill>
              </a:defRPr>
            </a:pPr>
            <a:r>
              <a:t>Traditional planning</a:t>
            </a:r>
          </a:p>
          <a:p>
            <a:pPr>
              <a:defRPr sz="1200">
                <a:solidFill>
                  <a:srgbClr val="5C6370"/>
                </a:solidFill>
              </a:defRPr>
            </a:pPr>
            <a:r>
              <a:t>Often represents actions as fixed discrete steps.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417320"/>
            <a:ext cx="34747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434840" y="1417320"/>
            <a:ext cx="82296" cy="1234440"/>
          </a:xfrm>
          <a:prstGeom prst="rect">
            <a:avLst/>
          </a:prstGeom>
          <a:solidFill>
            <a:srgbClr val="2A6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36007" y="1554480"/>
            <a:ext cx="315467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32642"/>
                </a:solidFill>
              </a:defRPr>
            </a:pPr>
            <a:r>
              <a:t>Real autonomous systems</a:t>
            </a:r>
          </a:p>
          <a:p>
            <a:pPr>
              <a:defRPr sz="1200">
                <a:solidFill>
                  <a:srgbClr val="5C6370"/>
                </a:solidFill>
              </a:defRPr>
            </a:pPr>
            <a:r>
              <a:t>Activities have durations, dependencies, resources and windows.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417320"/>
            <a:ext cx="34747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138160" y="1417320"/>
            <a:ext cx="82296" cy="1234440"/>
          </a:xfrm>
          <a:prstGeom prst="rect">
            <a:avLst/>
          </a:prstGeom>
          <a:solidFill>
            <a:srgbClr val="3CA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39328" y="1554480"/>
            <a:ext cx="315467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32642"/>
                </a:solidFill>
              </a:defRPr>
            </a:pPr>
            <a:r>
              <a:t>Mars rover planning</a:t>
            </a:r>
          </a:p>
          <a:p>
            <a:pPr>
              <a:defRPr sz="1200">
                <a:solidFill>
                  <a:srgbClr val="5C6370"/>
                </a:solidFill>
              </a:defRPr>
            </a:pPr>
            <a:r>
              <a:t>Remote operation requires careful scheduling under energy and daylight constraints.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246120"/>
            <a:ext cx="10424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232D"/>
                </a:solidFill>
                <a:latin typeface="Aptos"/>
              </a:defRPr>
            </a:pPr>
            <a:r>
              <a:t>The project focuses on continuous-time planning rather than simple step-by-step planning.</a:t>
            </a:r>
          </a:p>
          <a:p>
            <a:pPr>
              <a:spcAft>
                <a:spcPts val="800"/>
              </a:spcAft>
              <a:defRPr sz="1800">
                <a:solidFill>
                  <a:srgbClr val="1E232D"/>
                </a:solidFill>
                <a:latin typeface="Aptos"/>
              </a:defRPr>
            </a:pPr>
            <a:r>
              <a:t>Rover tasks such as movement, imaging, analysis and recharge must be coordinated.</a:t>
            </a:r>
          </a:p>
          <a:p>
            <a:pPr>
              <a:spcAft>
                <a:spcPts val="800"/>
              </a:spcAft>
              <a:defRPr sz="1800">
                <a:solidFill>
                  <a:srgbClr val="1E232D"/>
                </a:solidFill>
                <a:latin typeface="Aptos"/>
              </a:defRPr>
            </a:pPr>
            <a:r>
              <a:t>A formal planning approach helps check whether a schedule is feasible before execution.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28996"/>
                </a:solidFill>
              </a:defRPr>
            </a:pPr>
            <a:r>
              <a:t>Timeline-Based Planning | Final Year Project |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A6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32642"/>
                </a:solidFill>
                <a:latin typeface="Aptos Display"/>
              </a:defRPr>
            </a:pPr>
            <a:r>
              <a:t>Project Aim and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59536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C6370"/>
                </a:solidFill>
              </a:defRPr>
            </a:pPr>
            <a:r>
              <a:t>What the project set out to achieve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777240"/>
          </a:xfrm>
          <a:prstGeom prst="roundRect">
            <a:avLst/>
          </a:prstGeom>
          <a:solidFill>
            <a:srgbClr val="E5EFFF"/>
          </a:solidFill>
          <a:ln>
            <a:solidFill>
              <a:srgbClr val="C8D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389888"/>
            <a:ext cx="10149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32642"/>
                </a:solidFill>
              </a:defRPr>
            </a:pPr>
            <a:r>
              <a:t>Aim: design and implement a prototype timeline-based planning system using SMT and Z3.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423160"/>
            <a:ext cx="507492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22960" y="2423160"/>
            <a:ext cx="82296" cy="731520"/>
          </a:xfrm>
          <a:prstGeom prst="rect">
            <a:avLst/>
          </a:prstGeom>
          <a:solidFill>
            <a:srgbClr val="2A6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24128" y="256032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32642"/>
                </a:solidFill>
              </a:defRPr>
            </a:pPr>
            <a:r>
              <a:t>Objective 1</a:t>
            </a:r>
          </a:p>
          <a:p>
            <a:pPr>
              <a:defRPr sz="1200">
                <a:solidFill>
                  <a:srgbClr val="5C6370"/>
                </a:solidFill>
              </a:defRPr>
            </a:pPr>
            <a:r>
              <a:t>Represent tasks as temporal intervals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423160"/>
            <a:ext cx="507492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2423160"/>
            <a:ext cx="82296" cy="731520"/>
          </a:xfrm>
          <a:prstGeom prst="rect">
            <a:avLst/>
          </a:prstGeom>
          <a:solidFill>
            <a:srgbClr val="3CA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19088" y="256032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32642"/>
                </a:solidFill>
              </a:defRPr>
            </a:pPr>
            <a:r>
              <a:t>Objective 2</a:t>
            </a:r>
          </a:p>
          <a:p>
            <a:pPr>
              <a:defRPr sz="1200">
                <a:solidFill>
                  <a:srgbClr val="5C6370"/>
                </a:solidFill>
              </a:defRPr>
            </a:pPr>
            <a:r>
              <a:t>Encode duration, ordering, daylight and energy constraints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383280"/>
            <a:ext cx="507492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22960" y="3383280"/>
            <a:ext cx="82296" cy="731520"/>
          </a:xfrm>
          <a:prstGeom prst="rect">
            <a:avLst/>
          </a:prstGeom>
          <a:solidFill>
            <a:srgbClr val="2A6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24128" y="352044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32642"/>
                </a:solidFill>
              </a:defRPr>
            </a:pPr>
            <a:r>
              <a:t>Objective 3</a:t>
            </a:r>
          </a:p>
          <a:p>
            <a:pPr>
              <a:defRPr sz="1200">
                <a:solidFill>
                  <a:srgbClr val="5C6370"/>
                </a:solidFill>
              </a:defRPr>
            </a:pPr>
            <a:r>
              <a:t>Use Z3 to check SAT / UNSAT / UNKNOWN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383280"/>
            <a:ext cx="507492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17920" y="3383280"/>
            <a:ext cx="82296" cy="731520"/>
          </a:xfrm>
          <a:prstGeom prst="rect">
            <a:avLst/>
          </a:prstGeom>
          <a:solidFill>
            <a:srgbClr val="3CA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19088" y="352044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32642"/>
                </a:solidFill>
              </a:defRPr>
            </a:pPr>
            <a:r>
              <a:t>Objective 4</a:t>
            </a:r>
          </a:p>
          <a:p>
            <a:pPr>
              <a:defRPr sz="1200">
                <a:solidFill>
                  <a:srgbClr val="5C6370"/>
                </a:solidFill>
              </a:defRPr>
            </a:pPr>
            <a:r>
              <a:t>Extract and visualise generated schedules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343400"/>
            <a:ext cx="507492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22960" y="4343400"/>
            <a:ext cx="82296" cy="731520"/>
          </a:xfrm>
          <a:prstGeom prst="rect">
            <a:avLst/>
          </a:prstGeom>
          <a:solidFill>
            <a:srgbClr val="2A6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24128" y="448056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32642"/>
                </a:solidFill>
              </a:defRPr>
            </a:pPr>
            <a:r>
              <a:t>Objective 5</a:t>
            </a:r>
          </a:p>
          <a:p>
            <a:pPr>
              <a:defRPr sz="1200">
                <a:solidFill>
                  <a:srgbClr val="5C6370"/>
                </a:solidFill>
              </a:defRPr>
            </a:pPr>
            <a:r>
              <a:t>Evaluate runtime and scalability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28996"/>
                </a:solidFill>
              </a:defRPr>
            </a:pPr>
            <a:r>
              <a:t>Timeline-Based Planning | Final Year Project |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A6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32642"/>
                </a:solidFill>
                <a:latin typeface="Aptos Display"/>
              </a:defRPr>
            </a:pPr>
            <a:r>
              <a:t>Background: Timeline-Based Planning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59536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C6370"/>
                </a:solidFill>
              </a:defRPr>
            </a:pPr>
            <a:r>
              <a:t>Representing actions as intervals on timelines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2743200"/>
            <a:ext cx="9875520" cy="36576"/>
          </a:xfrm>
          <a:prstGeom prst="rect">
            <a:avLst/>
          </a:prstGeom>
          <a:solidFill>
            <a:srgbClr val="AAB4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280160" y="288036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C6370"/>
                </a:solidFill>
              </a:defRPr>
            </a:pPr>
            <a:r>
              <a:t>sᵢ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288036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C6370"/>
                </a:solidFill>
              </a:defRPr>
            </a:pPr>
            <a:r>
              <a:t>task token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88036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C6370"/>
                </a:solidFill>
              </a:defRPr>
            </a:pPr>
            <a:r>
              <a:t>eᵢ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288036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C6370"/>
                </a:solidFill>
              </a:defRPr>
            </a:pPr>
            <a:r>
              <a:t>time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17320" y="2331720"/>
            <a:ext cx="4800600" cy="777240"/>
          </a:xfrm>
          <a:prstGeom prst="roundRect">
            <a:avLst/>
          </a:prstGeom>
          <a:solidFill>
            <a:srgbClr val="A7C7E7"/>
          </a:solidFill>
          <a:ln>
            <a:solidFill>
              <a:srgbClr val="2A63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32642"/>
                </a:solidFill>
              </a:defRPr>
            </a:pPr>
            <a:r>
              <a:t>Task i: duration dᵢ = eᵢ − sᵢ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79476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E232D"/>
                </a:solidFill>
                <a:latin typeface="Aptos"/>
              </a:defRPr>
            </a:pPr>
            <a:r>
              <a:t>Activities are not instantaneous events.</a:t>
            </a:r>
          </a:p>
          <a:p>
            <a:pPr>
              <a:spcAft>
                <a:spcPts val="800"/>
              </a:spcAft>
              <a:defRPr sz="1600">
                <a:solidFill>
                  <a:srgbClr val="1E232D"/>
                </a:solidFill>
                <a:latin typeface="Aptos"/>
              </a:defRPr>
            </a:pPr>
            <a:r>
              <a:t>Each activity has a start time, end time and duration.</a:t>
            </a:r>
          </a:p>
          <a:p>
            <a:pPr>
              <a:spcAft>
                <a:spcPts val="800"/>
              </a:spcAft>
              <a:defRPr sz="1600">
                <a:solidFill>
                  <a:srgbClr val="1E232D"/>
                </a:solidFill>
                <a:latin typeface="Aptos"/>
              </a:defRPr>
            </a:pPr>
            <a:r>
              <a:t>This supports ordering, synchronisation and continuous-time reasoning.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3749039"/>
            <a:ext cx="4572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583680" y="3749039"/>
            <a:ext cx="82296" cy="1417320"/>
          </a:xfrm>
          <a:prstGeom prst="rect">
            <a:avLst/>
          </a:prstGeom>
          <a:solidFill>
            <a:srgbClr val="3CA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784848" y="3886200"/>
            <a:ext cx="4251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32642"/>
                </a:solidFill>
              </a:defRPr>
            </a:pPr>
            <a:r>
              <a:t>Why it fits this project</a:t>
            </a:r>
          </a:p>
          <a:p>
            <a:pPr>
              <a:defRPr sz="1200">
                <a:solidFill>
                  <a:srgbClr val="5C6370"/>
                </a:solidFill>
              </a:defRPr>
            </a:pPr>
            <a:r>
              <a:t>Rover actions such as moving, imaging, analysing and recharging all take time and must satisfy operational constraints.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989320"/>
            <a:ext cx="9875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28996"/>
                </a:solidFill>
              </a:defRPr>
            </a:pPr>
            <a:r>
              <a:t>Key source: Cesta, Fratini and Pecora (2009)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28996"/>
                </a:solidFill>
              </a:defRPr>
            </a:pPr>
            <a:r>
              <a:t>Timeline-Based Planning | Final Year Project |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A6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32642"/>
                </a:solidFill>
                <a:latin typeface="Aptos Display"/>
              </a:defRPr>
            </a:pPr>
            <a:r>
              <a:t>Background: SMT and Z3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59536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C6370"/>
                </a:solidFill>
              </a:defRPr>
            </a:pPr>
            <a:r>
              <a:t>Solving the planning problem as formal constraints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325880"/>
            <a:ext cx="32918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68680" y="1325880"/>
            <a:ext cx="82296" cy="960120"/>
          </a:xfrm>
          <a:prstGeom prst="rect">
            <a:avLst/>
          </a:prstGeom>
          <a:solidFill>
            <a:srgbClr val="3CA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69848" y="1463039"/>
            <a:ext cx="2971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32642"/>
                </a:solidFill>
              </a:defRPr>
            </a:pPr>
            <a:r>
              <a:t>SAT</a:t>
            </a:r>
          </a:p>
          <a:p>
            <a:pPr>
              <a:defRPr sz="1200">
                <a:solidFill>
                  <a:srgbClr val="5C6370"/>
                </a:solidFill>
              </a:defRPr>
            </a:pPr>
            <a:r>
              <a:t>A feasible schedule exists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17720" y="1325880"/>
            <a:ext cx="32918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617720" y="1325880"/>
            <a:ext cx="82296" cy="960120"/>
          </a:xfrm>
          <a:prstGeom prst="rect">
            <a:avLst/>
          </a:prstGeom>
          <a:solidFill>
            <a:srgbClr val="BE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818888" y="1463039"/>
            <a:ext cx="2971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32642"/>
                </a:solidFill>
              </a:defRPr>
            </a:pPr>
            <a:r>
              <a:t>UNSAT</a:t>
            </a:r>
          </a:p>
          <a:p>
            <a:pPr>
              <a:defRPr sz="1200">
                <a:solidFill>
                  <a:srgbClr val="5C6370"/>
                </a:solidFill>
              </a:defRPr>
            </a:pPr>
            <a:r>
              <a:t>No schedule satisfies all constraints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66759" y="1325880"/>
            <a:ext cx="32918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366759" y="1325880"/>
            <a:ext cx="82296" cy="960120"/>
          </a:xfrm>
          <a:prstGeom prst="rect">
            <a:avLst/>
          </a:prstGeom>
          <a:solidFill>
            <a:srgbClr val="E69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67928" y="1463039"/>
            <a:ext cx="2971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32642"/>
                </a:solidFill>
              </a:defRPr>
            </a:pPr>
            <a:r>
              <a:t>UNKNOWN</a:t>
            </a:r>
          </a:p>
          <a:p>
            <a:pPr>
              <a:defRPr sz="1200">
                <a:solidFill>
                  <a:srgbClr val="5C6370"/>
                </a:solidFill>
              </a:defRPr>
            </a:pPr>
            <a:r>
              <a:t>The solver cannot confirm in that run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97180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E232D"/>
                </a:solidFill>
                <a:latin typeface="Aptos"/>
              </a:defRPr>
            </a:pPr>
            <a:r>
              <a:t>SMT combines logical reasoning with mathematical theories.</a:t>
            </a:r>
          </a:p>
          <a:p>
            <a:pPr>
              <a:spcAft>
                <a:spcPts val="800"/>
              </a:spcAft>
              <a:defRPr sz="1700">
                <a:solidFill>
                  <a:srgbClr val="1E232D"/>
                </a:solidFill>
                <a:latin typeface="Aptos"/>
              </a:defRPr>
            </a:pPr>
            <a:r>
              <a:t>The project uses linear real arithmetic for continuous-time variables.</a:t>
            </a:r>
          </a:p>
          <a:p>
            <a:pPr>
              <a:spcAft>
                <a:spcPts val="800"/>
              </a:spcAft>
              <a:defRPr sz="1700">
                <a:solidFill>
                  <a:srgbClr val="1E232D"/>
                </a:solidFill>
                <a:latin typeface="Aptos"/>
              </a:defRPr>
            </a:pPr>
            <a:r>
              <a:t>Z3 checks whether all encoded constraints can be satisfied.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29400" y="2880360"/>
            <a:ext cx="4389120" cy="1554480"/>
          </a:xfrm>
          <a:prstGeom prst="roundRect">
            <a:avLst/>
          </a:prstGeom>
          <a:solidFill>
            <a:srgbClr val="F5F7FA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903720" y="3127248"/>
            <a:ext cx="38404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32642"/>
                </a:solidFill>
                <a:latin typeface="Aptos"/>
              </a:defRPr>
            </a:pPr>
            <a:r>
              <a:t>Example constraints:</a:t>
            </a:r>
          </a:p>
          <a:p>
            <a:pPr>
              <a:defRPr sz="1800">
                <a:solidFill>
                  <a:srgbClr val="132642"/>
                </a:solidFill>
                <a:latin typeface="Aptos"/>
              </a:defRPr>
            </a:pPr>
            <a:r>
              <a:t>start_image ≥ end_move</a:t>
            </a:r>
          </a:p>
          <a:p>
            <a:pPr>
              <a:defRPr sz="1800">
                <a:solidFill>
                  <a:srgbClr val="132642"/>
                </a:solidFill>
                <a:latin typeface="Aptos"/>
              </a:defRPr>
            </a:pPr>
            <a:r>
              <a:t>0 ≤ start_image ≤ sunset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989320"/>
            <a:ext cx="9875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28996"/>
                </a:solidFill>
              </a:defRPr>
            </a:pPr>
            <a:r>
              <a:t>Key sources: Barrett et al. (2009); De Moura and Bjørner (2008)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28996"/>
                </a:solidFill>
              </a:defRPr>
            </a:pPr>
            <a:r>
              <a:t>Timeline-Based Planning | Final Year Project |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A6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32642"/>
                </a:solidFill>
                <a:latin typeface="Aptos Display"/>
              </a:defRPr>
            </a:pPr>
            <a:r>
              <a:t>Formal Planning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59536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C6370"/>
                </a:solidFill>
              </a:defRPr>
            </a:pPr>
            <a:r>
              <a:t>How the report defines the planning problem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234440"/>
            <a:ext cx="4983480" cy="1097280"/>
          </a:xfrm>
          <a:prstGeom prst="roundRect">
            <a:avLst/>
          </a:prstGeom>
          <a:solidFill>
            <a:srgbClr val="13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1527048"/>
            <a:ext cx="4480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P = (T, V, C)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34440"/>
            <a:ext cx="493776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217920" y="1234440"/>
            <a:ext cx="82296" cy="1097280"/>
          </a:xfrm>
          <a:prstGeom prst="rect">
            <a:avLst/>
          </a:prstGeom>
          <a:solidFill>
            <a:srgbClr val="2A6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19088" y="1371600"/>
            <a:ext cx="4617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32642"/>
                </a:solidFill>
              </a:defRPr>
            </a:pPr>
            <a:r>
              <a:t>Meaning</a:t>
            </a:r>
          </a:p>
          <a:p>
            <a:pPr>
              <a:defRPr sz="1200">
                <a:solidFill>
                  <a:srgbClr val="5C6370"/>
                </a:solidFill>
              </a:defRPr>
            </a:pPr>
            <a:r>
              <a:t>T = tasks, V = temporal variables, C = constraints over those variables.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788920"/>
            <a:ext cx="32918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22960" y="2788920"/>
            <a:ext cx="82296" cy="1143000"/>
          </a:xfrm>
          <a:prstGeom prst="rect">
            <a:avLst/>
          </a:prstGeom>
          <a:solidFill>
            <a:srgbClr val="3CA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24128" y="2926079"/>
            <a:ext cx="2971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32642"/>
                </a:solidFill>
              </a:defRPr>
            </a:pPr>
            <a:r>
              <a:t>Task variables</a:t>
            </a:r>
          </a:p>
          <a:p>
            <a:pPr>
              <a:defRPr sz="1200">
                <a:solidFill>
                  <a:srgbClr val="5C6370"/>
                </a:solidFill>
              </a:defRPr>
            </a:pPr>
            <a:r>
              <a:t>Each task i has sᵢ and eᵢ as real-valued start and end times.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2788920"/>
            <a:ext cx="32918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34840" y="2788920"/>
            <a:ext cx="82296" cy="1143000"/>
          </a:xfrm>
          <a:prstGeom prst="rect">
            <a:avLst/>
          </a:prstGeom>
          <a:solidFill>
            <a:srgbClr val="E69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36007" y="2926079"/>
            <a:ext cx="2971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32642"/>
                </a:solidFill>
              </a:defRPr>
            </a:pPr>
            <a:r>
              <a:t>Duration</a:t>
            </a:r>
          </a:p>
          <a:p>
            <a:pPr>
              <a:defRPr sz="1200">
                <a:solidFill>
                  <a:srgbClr val="5C6370"/>
                </a:solidFill>
              </a:defRPr>
            </a:pPr>
            <a:r>
              <a:t>dᵢ = eᵢ − sᵢ, with minimum and maximum duration bounds.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2788920"/>
            <a:ext cx="32918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46720" y="2788920"/>
            <a:ext cx="82296" cy="1143000"/>
          </a:xfrm>
          <a:prstGeom prst="rect">
            <a:avLst/>
          </a:prstGeom>
          <a:solidFill>
            <a:srgbClr val="2A6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47888" y="2926079"/>
            <a:ext cx="2971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32642"/>
                </a:solidFill>
              </a:defRPr>
            </a:pPr>
            <a:r>
              <a:rPr dirty="0"/>
              <a:t>Ordering</a:t>
            </a:r>
          </a:p>
          <a:p>
            <a:pPr>
              <a:defRPr sz="1200">
                <a:solidFill>
                  <a:srgbClr val="5C6370"/>
                </a:solidFill>
              </a:defRPr>
            </a:pPr>
            <a:r>
              <a:rPr dirty="0"/>
              <a:t>Example: </a:t>
            </a:r>
            <a:r>
              <a:rPr dirty="0" err="1"/>
              <a:t>s_image</a:t>
            </a:r>
            <a:r>
              <a:rPr dirty="0"/>
              <a:t> ≥ </a:t>
            </a:r>
            <a:r>
              <a:rPr dirty="0" err="1"/>
              <a:t>e_move</a:t>
            </a:r>
            <a:r>
              <a:rPr dirty="0"/>
              <a:t> means imaging starts after movement ends.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709160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232D"/>
                </a:solidFill>
                <a:latin typeface="Aptos"/>
              </a:defRPr>
            </a:pPr>
            <a:r>
              <a:t>The formal model is then translated into an SMT instance over real-valued variables.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28996"/>
                </a:solidFill>
              </a:defRPr>
            </a:pPr>
            <a:r>
              <a:t>Timeline-Based Planning | Final Year Project |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A6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32642"/>
                </a:solidFill>
                <a:latin typeface="Aptos Display"/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59536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C6370"/>
                </a:solidFill>
              </a:defRPr>
            </a:pPr>
            <a:r>
              <a:t>From structured input to a verified schedule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057400"/>
            <a:ext cx="2057400" cy="1005840"/>
          </a:xfrm>
          <a:prstGeom prst="roundRect">
            <a:avLst/>
          </a:prstGeom>
          <a:solidFill>
            <a:srgbClr val="E5EFFF"/>
          </a:solidFill>
          <a:ln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32642"/>
                </a:solidFill>
              </a:defRPr>
            </a:pPr>
            <a:r>
              <a:t>JSON Input</a:t>
            </a:r>
          </a:p>
          <a:p>
            <a:pPr algn="ctr">
              <a:defRPr sz="1000">
                <a:solidFill>
                  <a:srgbClr val="5C6370"/>
                </a:solidFill>
              </a:defRPr>
            </a:pPr>
            <a:r>
              <a:t>tasks, durations, constraints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651760" y="2560320"/>
            <a:ext cx="228600" cy="0"/>
          </a:xfrm>
          <a:prstGeom prst="line">
            <a:avLst/>
          </a:prstGeom>
          <a:ln w="25400">
            <a:solidFill>
              <a:srgbClr val="2A63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880360" y="2057400"/>
            <a:ext cx="2057400" cy="1005840"/>
          </a:xfrm>
          <a:prstGeom prst="roundRect">
            <a:avLst/>
          </a:prstGeom>
          <a:solidFill>
            <a:srgbClr val="E5EFFF"/>
          </a:solidFill>
          <a:ln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32642"/>
                </a:solidFill>
              </a:defRPr>
            </a:pPr>
            <a:r>
              <a:t>Constraint Encoder</a:t>
            </a:r>
          </a:p>
          <a:p>
            <a:pPr algn="ctr">
              <a:defRPr sz="1000">
                <a:solidFill>
                  <a:srgbClr val="5C6370"/>
                </a:solidFill>
              </a:defRPr>
            </a:pPr>
            <a:r>
              <a:t>linear arithmetic formulas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937760" y="2560320"/>
            <a:ext cx="228600" cy="0"/>
          </a:xfrm>
          <a:prstGeom prst="line">
            <a:avLst/>
          </a:prstGeom>
          <a:ln w="25400">
            <a:solidFill>
              <a:srgbClr val="2A63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166360" y="2057400"/>
            <a:ext cx="2057400" cy="1005840"/>
          </a:xfrm>
          <a:prstGeom prst="roundRect">
            <a:avLst/>
          </a:prstGeom>
          <a:solidFill>
            <a:srgbClr val="FFF0DB"/>
          </a:solidFill>
          <a:ln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32642"/>
                </a:solidFill>
              </a:defRPr>
            </a:pPr>
            <a:r>
              <a:t>Z3 Solver</a:t>
            </a:r>
          </a:p>
          <a:p>
            <a:pPr algn="ctr">
              <a:defRPr sz="1000">
                <a:solidFill>
                  <a:srgbClr val="5C6370"/>
                </a:solidFill>
              </a:defRPr>
            </a:pPr>
            <a:r>
              <a:t>SAT / UNSAT / UNKNOWN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223760" y="2560320"/>
            <a:ext cx="228600" cy="0"/>
          </a:xfrm>
          <a:prstGeom prst="line">
            <a:avLst/>
          </a:prstGeom>
          <a:ln w="25400">
            <a:solidFill>
              <a:srgbClr val="2A63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452360" y="2057400"/>
            <a:ext cx="2057400" cy="1005840"/>
          </a:xfrm>
          <a:prstGeom prst="roundRect">
            <a:avLst/>
          </a:prstGeom>
          <a:solidFill>
            <a:srgbClr val="E8F5F1"/>
          </a:solidFill>
          <a:ln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32642"/>
                </a:solidFill>
              </a:defRPr>
            </a:pPr>
            <a:r>
              <a:t>Output Module</a:t>
            </a:r>
          </a:p>
          <a:p>
            <a:pPr algn="ctr">
              <a:defRPr sz="1000">
                <a:solidFill>
                  <a:srgbClr val="5C6370"/>
                </a:solidFill>
              </a:defRPr>
            </a:pPr>
            <a:r>
              <a:t>extract model values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509760" y="2560320"/>
            <a:ext cx="228600" cy="0"/>
          </a:xfrm>
          <a:prstGeom prst="line">
            <a:avLst/>
          </a:prstGeom>
          <a:ln w="25400">
            <a:solidFill>
              <a:srgbClr val="2A63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738360" y="2057400"/>
            <a:ext cx="2057400" cy="1005840"/>
          </a:xfrm>
          <a:prstGeom prst="roundRect">
            <a:avLst/>
          </a:prstGeom>
          <a:solidFill>
            <a:srgbClr val="E8F5F1"/>
          </a:solidFill>
          <a:ln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32642"/>
                </a:solidFill>
              </a:defRPr>
            </a:pPr>
            <a:r>
              <a:t>Visualisation</a:t>
            </a:r>
          </a:p>
          <a:p>
            <a:pPr algn="ctr">
              <a:defRPr sz="1000">
                <a:solidFill>
                  <a:srgbClr val="5C6370"/>
                </a:solidFill>
              </a:defRPr>
            </a:pPr>
            <a:r>
              <a:t>timeline schedule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160520"/>
            <a:ext cx="10424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E232D"/>
                </a:solidFill>
                <a:latin typeface="Aptos"/>
              </a:defRPr>
            </a:pPr>
            <a:r>
              <a:t>The architecture is modular: each stage can be tested or improved separately.</a:t>
            </a:r>
          </a:p>
          <a:p>
            <a:pPr>
              <a:spcAft>
                <a:spcPts val="800"/>
              </a:spcAft>
              <a:defRPr sz="1700">
                <a:solidFill>
                  <a:srgbClr val="1E232D"/>
                </a:solidFill>
                <a:latin typeface="Aptos"/>
              </a:defRPr>
            </a:pPr>
            <a:r>
              <a:t>The user does not need to write low-level SMT formulas manually; the system performs the translation.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28996"/>
                </a:solidFill>
              </a:defRPr>
            </a:pPr>
            <a:r>
              <a:t>Timeline-Based Planning | Final Year Project |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A6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32642"/>
                </a:solidFill>
                <a:latin typeface="Aptos Display"/>
              </a:defRPr>
            </a:pPr>
            <a:r>
              <a:t>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59536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C6370"/>
                </a:solidFill>
              </a:defRPr>
            </a:pPr>
            <a:r>
              <a:t>Python prototype using Z3 and JSON input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80160"/>
            <a:ext cx="31089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77240" y="1280160"/>
            <a:ext cx="82296" cy="914400"/>
          </a:xfrm>
          <a:prstGeom prst="rect">
            <a:avLst/>
          </a:prstGeom>
          <a:solidFill>
            <a:srgbClr val="2A6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78408" y="1417319"/>
            <a:ext cx="2788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32642"/>
                </a:solidFill>
              </a:defRPr>
            </a:pPr>
            <a:r>
              <a:t>Tools used</a:t>
            </a:r>
          </a:p>
          <a:p>
            <a:pPr>
              <a:defRPr sz="1200">
                <a:solidFill>
                  <a:srgbClr val="5C6370"/>
                </a:solidFill>
              </a:defRPr>
            </a:pPr>
            <a:r>
              <a:t>Python, Z3 SMT solver, JSON input, timing functions and timeline visualisation.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1960" y="1280160"/>
            <a:ext cx="31089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251960" y="1280160"/>
            <a:ext cx="82296" cy="914400"/>
          </a:xfrm>
          <a:prstGeom prst="rect">
            <a:avLst/>
          </a:prstGeom>
          <a:solidFill>
            <a:srgbClr val="3CA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53128" y="1417319"/>
            <a:ext cx="2788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32642"/>
                </a:solidFill>
              </a:defRPr>
            </a:pPr>
            <a:r>
              <a:t>Main modules</a:t>
            </a:r>
          </a:p>
          <a:p>
            <a:pPr>
              <a:defRPr sz="1200">
                <a:solidFill>
                  <a:srgbClr val="5C6370"/>
                </a:solidFill>
              </a:defRPr>
            </a:pPr>
            <a:r>
              <a:t>Input parser, constraint generator, solver interface, result extractor and visualiser.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26679" y="1280160"/>
            <a:ext cx="31089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726679" y="1280160"/>
            <a:ext cx="82296" cy="914400"/>
          </a:xfrm>
          <a:prstGeom prst="rect">
            <a:avLst/>
          </a:prstGeom>
          <a:solidFill>
            <a:srgbClr val="E69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927848" y="1417319"/>
            <a:ext cx="2788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32642"/>
                </a:solidFill>
              </a:defRPr>
            </a:pPr>
            <a:r>
              <a:t>Core idea</a:t>
            </a:r>
          </a:p>
          <a:p>
            <a:pPr>
              <a:defRPr sz="1200">
                <a:solidFill>
                  <a:srgbClr val="5C6370"/>
                </a:solidFill>
              </a:defRPr>
            </a:pPr>
            <a:r>
              <a:t>Translate planning rules into solver constraints and inspect the model returned by Z3.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0120" y="2743200"/>
            <a:ext cx="10241280" cy="2057400"/>
          </a:xfrm>
          <a:prstGeom prst="roundRect">
            <a:avLst/>
          </a:prstGeom>
          <a:solidFill>
            <a:srgbClr val="202530"/>
          </a:solidFill>
          <a:ln>
            <a:solidFill>
              <a:srgbClr val="37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34440" y="2944368"/>
            <a:ext cx="9692640" cy="1691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EBEEF5"/>
                </a:solidFill>
                <a:latin typeface="Courier New"/>
              </a:defRPr>
            </a:pPr>
            <a:r>
              <a:t>solver.add(start["image"] &gt;= end["move"])</a:t>
            </a:r>
          </a:p>
          <a:p>
            <a:pPr>
              <a:defRPr sz="1500">
                <a:solidFill>
                  <a:srgbClr val="EBEEF5"/>
                </a:solidFill>
                <a:latin typeface="Courier New"/>
              </a:defRPr>
            </a:pPr>
            <a:r>
              <a:t>solver.add(start["analyze"] &gt;= end["image"])</a:t>
            </a:r>
          </a:p>
          <a:p>
            <a:pPr>
              <a:defRPr sz="1500">
                <a:solidFill>
                  <a:srgbClr val="EBEEF5"/>
                </a:solidFill>
                <a:latin typeface="Courier New"/>
              </a:defRPr>
            </a:pPr>
            <a:endParaRPr/>
          </a:p>
          <a:p>
            <a:pPr>
              <a:defRPr sz="1500">
                <a:solidFill>
                  <a:srgbClr val="EBEEF5"/>
                </a:solidFill>
                <a:latin typeface="Courier New"/>
              </a:defRPr>
            </a:pPr>
            <a:r>
              <a:t>solver.add(start["image"] &gt;= sunrise)</a:t>
            </a:r>
          </a:p>
          <a:p>
            <a:pPr>
              <a:defRPr sz="1500">
                <a:solidFill>
                  <a:srgbClr val="EBEEF5"/>
                </a:solidFill>
                <a:latin typeface="Courier New"/>
              </a:defRPr>
            </a:pPr>
            <a:r>
              <a:t>solver.add(start["image"] &lt;= sunset)</a:t>
            </a:r>
          </a:p>
          <a:p>
            <a:pPr>
              <a:defRPr sz="1500">
                <a:solidFill>
                  <a:srgbClr val="EBEEF5"/>
                </a:solidFill>
                <a:latin typeface="Courier New"/>
              </a:defRPr>
            </a:pPr>
            <a:endParaRPr/>
          </a:p>
          <a:p>
            <a:pPr>
              <a:defRPr sz="1500">
                <a:solidFill>
                  <a:srgbClr val="EBEEF5"/>
                </a:solidFill>
                <a:latin typeface="Courier New"/>
              </a:defRPr>
            </a:pPr>
            <a:r>
              <a:t>if solver.check() == sat:</a:t>
            </a:r>
          </a:p>
          <a:p>
            <a:pPr>
              <a:defRPr sz="1500">
                <a:solidFill>
                  <a:srgbClr val="EBEEF5"/>
                </a:solidFill>
                <a:latin typeface="Courier New"/>
              </a:defRPr>
            </a:pPr>
            <a:r>
              <a:t>    model = solver.model()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28996"/>
                </a:solidFill>
              </a:defRPr>
            </a:pPr>
            <a:r>
              <a:t>Timeline-Based Planning | Final Year Project |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A6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32642"/>
                </a:solidFill>
                <a:latin typeface="Aptos Display"/>
              </a:defRPr>
            </a:pPr>
            <a:r>
              <a:t>Mars Rover Planning Scenario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59536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C6370"/>
                </a:solidFill>
              </a:defRPr>
            </a:pPr>
            <a:r>
              <a:t>Main case study used for evaluation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280160"/>
          <a:ext cx="64008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Task</a:t>
                      </a:r>
                    </a:p>
                  </a:txBody>
                  <a:tcPr>
                    <a:solidFill>
                      <a:srgbClr val="1326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Duration Range</a:t>
                      </a:r>
                    </a:p>
                  </a:txBody>
                  <a:tcPr>
                    <a:solidFill>
                      <a:srgbClr val="1326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1326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32D"/>
                          </a:solidFill>
                        </a:defRPr>
                      </a:pPr>
                      <a:r>
                        <a:t>Move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32D"/>
                          </a:solidFill>
                        </a:defRPr>
                      </a:pPr>
                      <a:r>
                        <a:t>5–10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32D"/>
                          </a:solidFill>
                        </a:defRPr>
                      </a:pPr>
                      <a:r>
                        <a:t>travel to target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32D"/>
                          </a:solidFill>
                        </a:defRPr>
                      </a:pPr>
                      <a:r>
                        <a:t>Image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32D"/>
                          </a:solidFill>
                        </a:defRPr>
                      </a:pPr>
                      <a:r>
                        <a:t>2–4 min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32D"/>
                          </a:solidFill>
                        </a:defRPr>
                      </a:pPr>
                      <a:r>
                        <a:t>capture terrain/science image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32D"/>
                          </a:solidFill>
                        </a:defRPr>
                      </a:pPr>
                      <a:r>
                        <a:t>Analyze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32D"/>
                          </a:solidFill>
                        </a:defRPr>
                      </a:pPr>
                      <a:r>
                        <a:t>3–6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32D"/>
                          </a:solidFill>
                        </a:defRPr>
                      </a:pPr>
                      <a:r>
                        <a:t>process collected 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32D"/>
                          </a:solidFill>
                        </a:defRPr>
                      </a:pPr>
                      <a:r>
                        <a:t>Recharge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32D"/>
                          </a:solidFill>
                        </a:defRPr>
                      </a:pPr>
                      <a:r>
                        <a:t>10–20 min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32D"/>
                          </a:solidFill>
                        </a:defRPr>
                      </a:pPr>
                      <a:r>
                        <a:t>recover battery power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452360" y="1280160"/>
            <a:ext cx="3977639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452360" y="1280160"/>
            <a:ext cx="82296" cy="777240"/>
          </a:xfrm>
          <a:prstGeom prst="rect">
            <a:avLst/>
          </a:prstGeom>
          <a:solidFill>
            <a:srgbClr val="2A6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53528" y="1417319"/>
            <a:ext cx="365759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32642"/>
                </a:solidFill>
              </a:defRPr>
            </a:pPr>
            <a:r>
              <a:t>Temporal constraints</a:t>
            </a:r>
          </a:p>
          <a:p>
            <a:pPr>
              <a:defRPr sz="1200">
                <a:solidFill>
                  <a:srgbClr val="5C6370"/>
                </a:solidFill>
              </a:defRPr>
            </a:pPr>
            <a:r>
              <a:t>Move before image; image before analysis.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2360" y="2240280"/>
            <a:ext cx="3977639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452360" y="2240280"/>
            <a:ext cx="82296" cy="777240"/>
          </a:xfrm>
          <a:prstGeom prst="rect">
            <a:avLst/>
          </a:prstGeom>
          <a:solidFill>
            <a:srgbClr val="3CA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53528" y="2377440"/>
            <a:ext cx="365759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32642"/>
                </a:solidFill>
              </a:defRPr>
            </a:pPr>
            <a:r>
              <a:t>Environmental constraints</a:t>
            </a:r>
          </a:p>
          <a:p>
            <a:pPr>
              <a:defRPr sz="1200">
                <a:solidFill>
                  <a:srgbClr val="5C6370"/>
                </a:solidFill>
              </a:defRPr>
            </a:pPr>
            <a:r>
              <a:t>Imaging and recharge must occur in daylight.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0" y="3200400"/>
            <a:ext cx="3977639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452360" y="3200400"/>
            <a:ext cx="82296" cy="777240"/>
          </a:xfrm>
          <a:prstGeom prst="rect">
            <a:avLst/>
          </a:prstGeom>
          <a:solidFill>
            <a:srgbClr val="E69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653528" y="3337560"/>
            <a:ext cx="365759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32642"/>
                </a:solidFill>
              </a:defRPr>
            </a:pPr>
            <a:r>
              <a:t>Resource constraints</a:t>
            </a:r>
          </a:p>
          <a:p>
            <a:pPr>
              <a:defRPr sz="1200">
                <a:solidFill>
                  <a:srgbClr val="5C6370"/>
                </a:solidFill>
              </a:defRPr>
            </a:pPr>
            <a:r>
              <a:t>Battery feasibility and recharge placement.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434840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E232D"/>
                </a:solidFill>
                <a:latin typeface="Aptos"/>
              </a:defRPr>
            </a:pPr>
            <a:r>
              <a:t>This simplified scenario is small enough to test, but still includes meaningful interactions between time, resources and environment.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28996"/>
                </a:solidFill>
              </a:defRPr>
            </a:pPr>
            <a:r>
              <a:t>Timeline-Based Planning | Final Year Project |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A6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32642"/>
                </a:solidFill>
                <a:latin typeface="Aptos Display"/>
              </a:defRPr>
            </a:pPr>
            <a:r>
              <a:t>Experimental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59536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C6370"/>
                </a:solidFill>
              </a:defRPr>
            </a:pPr>
            <a:r>
              <a:t>Runtime and feasibility outcomes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234440"/>
          <a:ext cx="466344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58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58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58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58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8011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Tasks</a:t>
                      </a:r>
                    </a:p>
                  </a:txBody>
                  <a:tcPr>
                    <a:solidFill>
                      <a:srgbClr val="1326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Density</a:t>
                      </a:r>
                    </a:p>
                  </a:txBody>
                  <a:tcPr>
                    <a:solidFill>
                      <a:srgbClr val="1326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Result</a:t>
                      </a:r>
                    </a:p>
                  </a:txBody>
                  <a:tcPr>
                    <a:solidFill>
                      <a:srgbClr val="1326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Runtime</a:t>
                      </a:r>
                    </a:p>
                  </a:txBody>
                  <a:tcPr>
                    <a:solidFill>
                      <a:srgbClr val="1326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CA078"/>
                          </a:solidFill>
                        </a:defRPr>
                      </a:pPr>
                      <a:r>
                        <a:t>SAT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0.02s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Low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CA078"/>
                          </a:solidFill>
                        </a:defRPr>
                      </a:pPr>
                      <a:r>
                        <a:t>SAT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0.04s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CA078"/>
                          </a:solidFill>
                        </a:defRPr>
                      </a:pPr>
                      <a:r>
                        <a:t>SAT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0.15s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CA078"/>
                          </a:solidFill>
                        </a:defRPr>
                      </a:pPr>
                      <a:r>
                        <a:t>SAT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0.35s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BE4646"/>
                          </a:solidFill>
                        </a:defRPr>
                      </a:pPr>
                      <a:r>
                        <a:t>UNSAT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1.20s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8014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69138"/>
                          </a:solidFill>
                        </a:defRPr>
                      </a:pPr>
                      <a:r>
                        <a:t>UNKNOWN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2.80s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6" name="Picture 5" descr="runtime_grow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1143000"/>
            <a:ext cx="5303520" cy="3200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8680" y="4617720"/>
            <a:ext cx="10515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E232D"/>
                </a:solidFill>
                <a:latin typeface="Aptos"/>
              </a:defRPr>
            </a:pPr>
            <a:r>
              <a:t>Small and medium cases were solved quickly; up to 8 tasks solved in under 0.40 seconds.</a:t>
            </a:r>
          </a:p>
          <a:p>
            <a:pPr>
              <a:spcAft>
                <a:spcPts val="800"/>
              </a:spcAft>
              <a:defRPr sz="1500">
                <a:solidFill>
                  <a:srgbClr val="1E232D"/>
                </a:solidFill>
                <a:latin typeface="Aptos"/>
              </a:defRPr>
            </a:pPr>
            <a:r>
              <a:t>High-density cases became more difficult: 10 tasks was UNSAT, while 12 tasks was UNKNOWN / NOT RESOLVED after 2.80 seconds.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28996"/>
                </a:solidFill>
              </a:defRPr>
            </a:pPr>
            <a:r>
              <a:t>Timeline-Based Planning | Final Year Project |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A6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32642"/>
                </a:solidFill>
                <a:latin typeface="Aptos Display"/>
              </a:defRPr>
            </a:pPr>
            <a:r>
              <a:t>Conclusion and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59536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C6370"/>
                </a:solidFill>
              </a:defRPr>
            </a:pPr>
            <a:r>
              <a:t>What was achieved and what comes next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52120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77240" y="1234440"/>
            <a:ext cx="82296" cy="1097280"/>
          </a:xfrm>
          <a:prstGeom prst="rect">
            <a:avLst/>
          </a:prstGeom>
          <a:solidFill>
            <a:srgbClr val="3CA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78408" y="1371600"/>
            <a:ext cx="4892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32642"/>
                </a:solidFill>
              </a:defRPr>
            </a:pPr>
            <a:r>
              <a:t>What was achieved</a:t>
            </a:r>
          </a:p>
          <a:p>
            <a:pPr>
              <a:defRPr sz="1200">
                <a:solidFill>
                  <a:srgbClr val="5C6370"/>
                </a:solidFill>
              </a:defRPr>
            </a:pPr>
            <a:r>
              <a:t>A working SMT-based timeline planning prototype was built, using Python and Z3 to model continuous-time rover scheduling.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2120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309360" y="1234440"/>
            <a:ext cx="82296" cy="1097280"/>
          </a:xfrm>
          <a:prstGeom prst="rect">
            <a:avLst/>
          </a:prstGeom>
          <a:solidFill>
            <a:srgbClr val="2A6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10528" y="1371600"/>
            <a:ext cx="4892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32642"/>
                </a:solidFill>
              </a:defRPr>
            </a:pPr>
            <a:r>
              <a:t>Main finding</a:t>
            </a:r>
          </a:p>
          <a:p>
            <a:pPr>
              <a:defRPr sz="1200">
                <a:solidFill>
                  <a:srgbClr val="5C6370"/>
                </a:solidFill>
              </a:defRPr>
            </a:pPr>
            <a:r>
              <a:t>The approach is expressive and reliable for small and medium cases, but scalability is the main limitation.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788920"/>
            <a:ext cx="32918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77240" y="2788920"/>
            <a:ext cx="82296" cy="1417320"/>
          </a:xfrm>
          <a:prstGeom prst="rect">
            <a:avLst/>
          </a:prstGeom>
          <a:solidFill>
            <a:srgbClr val="E69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78408" y="2926079"/>
            <a:ext cx="2971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32642"/>
                </a:solidFill>
              </a:defRPr>
            </a:pPr>
            <a:r>
              <a:t>Limitations</a:t>
            </a:r>
          </a:p>
          <a:p>
            <a:pPr>
              <a:defRPr sz="1200">
                <a:solidFill>
                  <a:srgbClr val="5C6370"/>
                </a:solidFill>
              </a:defRPr>
            </a:pPr>
            <a:r>
              <a:t>Simplified rover scenario, simplified battery model, no uncertainty handling, limited scale.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2788920"/>
            <a:ext cx="32918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434840" y="2788920"/>
            <a:ext cx="82296" cy="1417320"/>
          </a:xfrm>
          <a:prstGeom prst="rect">
            <a:avLst/>
          </a:prstGeom>
          <a:solidFill>
            <a:srgbClr val="3CA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36007" y="2926079"/>
            <a:ext cx="2971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32642"/>
                </a:solidFill>
              </a:defRPr>
            </a:pPr>
            <a:r>
              <a:t>Future work</a:t>
            </a:r>
          </a:p>
          <a:p>
            <a:pPr>
              <a:defRPr sz="1200">
                <a:solidFill>
                  <a:srgbClr val="5C6370"/>
                </a:solidFill>
              </a:defRPr>
            </a:pPr>
            <a:r>
              <a:t>Optimisation, richer resource models, uncertainty handling, incremental or parallel solving.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2788920"/>
            <a:ext cx="32918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92440" y="2788920"/>
            <a:ext cx="82296" cy="1417320"/>
          </a:xfrm>
          <a:prstGeom prst="rect">
            <a:avLst/>
          </a:prstGeom>
          <a:solidFill>
            <a:srgbClr val="2A6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93608" y="2926079"/>
            <a:ext cx="2971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32642"/>
                </a:solidFill>
              </a:defRPr>
            </a:pPr>
            <a:r>
              <a:t>Final message</a:t>
            </a:r>
          </a:p>
          <a:p>
            <a:pPr>
              <a:defRPr sz="1200">
                <a:solidFill>
                  <a:srgbClr val="5C6370"/>
                </a:solidFill>
              </a:defRPr>
            </a:pPr>
            <a:r>
              <a:t>Formal methods can support dependable autonomous planning, but practical deployment needs stronger scalability and realism.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023360" y="5166360"/>
            <a:ext cx="4206240" cy="731520"/>
          </a:xfrm>
          <a:prstGeom prst="roundRect">
            <a:avLst/>
          </a:prstGeom>
          <a:solidFill>
            <a:srgbClr val="13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Thank you — Questions?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28996"/>
                </a:solidFill>
              </a:defRPr>
            </a:pPr>
            <a:r>
              <a:t>Timeline-Based Planning | Final Year Project |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5617</TotalTime>
  <Words>1295</Words>
  <Application>Microsoft Macintosh PowerPoint</Application>
  <PresentationFormat>Widescreen</PresentationFormat>
  <Paragraphs>189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Hochit Joure</cp:lastModifiedBy>
  <cp:revision>3</cp:revision>
  <dcterms:created xsi:type="dcterms:W3CDTF">2013-01-27T09:14:16Z</dcterms:created>
  <dcterms:modified xsi:type="dcterms:W3CDTF">2026-05-11T13:54:33Z</dcterms:modified>
  <cp:category/>
</cp:coreProperties>
</file>